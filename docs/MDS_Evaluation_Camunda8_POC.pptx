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MDS Evaluation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>
                <a:solidFill>
                  <a:srgbClr val="42A5F5"/>
                </a:solidFill>
              </a:defRPr>
            </a:pPr>
            <a:r>
              <a:t>Camunda 8 Proof-of-Concept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>
                <a:solidFill>
                  <a:srgbClr val="BDBDBD"/>
                </a:solidFill>
              </a:defRPr>
            </a:pPr>
            <a:r>
              <a:t>CBS Playground · Brand Safety · Asset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BDBDBD"/>
                </a:solidFill>
              </a:defRPr>
            </a:pPr>
            <a:r>
              <a:t>Today, evaluating brand-safety for creative assets involves: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BDBDBD"/>
                </a:solidFill>
              </a:defRPr>
            </a:pPr>
            <a:r>
              <a:t>• Manual upload of images to Google Cloud Storage (GCS)</a:t>
            </a:r>
          </a:p>
          <a:p>
            <a:pPr>
              <a:spcAft>
                <a:spcPts val="400"/>
              </a:spcAft>
              <a:defRPr sz="1500">
                <a:solidFill>
                  <a:srgbClr val="BDBDBD"/>
                </a:solidFill>
              </a:defRPr>
            </a:pPr>
            <a:r>
              <a:t>• Constructing a JSON input payload for the MDS API by hand</a:t>
            </a:r>
          </a:p>
          <a:p>
            <a:pPr>
              <a:spcAft>
                <a:spcPts val="400"/>
              </a:spcAft>
              <a:defRPr sz="1500">
                <a:solidFill>
                  <a:srgbClr val="BDBDBD"/>
                </a:solidFill>
              </a:defRPr>
            </a:pPr>
            <a:r>
              <a:t>• Submitting an async job to MDS, then polling / waiting for results</a:t>
            </a:r>
          </a:p>
          <a:p>
            <a:pPr>
              <a:spcAft>
                <a:spcPts val="400"/>
              </a:spcAft>
              <a:defRPr sz="1500">
                <a:solidFill>
                  <a:srgbClr val="BDBDBD"/>
                </a:solidFill>
              </a:defRPr>
            </a:pPr>
            <a:r>
              <a:t>• Post-processing violation scores with custom scripts</a:t>
            </a:r>
          </a:p>
          <a:p>
            <a:pPr>
              <a:spcAft>
                <a:spcPts val="400"/>
              </a:spcAft>
              <a:defRPr sz="1500">
                <a:solidFill>
                  <a:srgbClr val="BDBDBD"/>
                </a:solidFill>
              </a:defRPr>
            </a:pPr>
            <a:r>
              <a:t>• Updating Postgres rows with computed confidence scores</a:t>
            </a:r>
          </a:p>
          <a:p>
            <a:pPr>
              <a:spcAft>
                <a:spcPts val="400"/>
              </a:spcAft>
              <a:defRPr sz="1500">
                <a:solidFill>
                  <a:srgbClr val="BDBDBD"/>
                </a:solidFill>
              </a:defRPr>
            </a:pPr>
            <a:r>
              <a:t>• A human reviewer approving, rejecting, or requesting changes</a:t>
            </a:r>
          </a:p>
          <a:p>
            <a:pPr>
              <a:spcAft>
                <a:spcPts val="400"/>
              </a:spcAft>
              <a:defRPr sz="1500">
                <a:solidFill>
                  <a:srgbClr val="BDBDBD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BDBDBD"/>
                </a:solidFill>
              </a:defRPr>
            </a:pPr>
            <a:r>
              <a:t>This multi-step, async, human-in-the-loop process is fragile when</a:t>
            </a:r>
          </a:p>
          <a:p>
            <a:pPr>
              <a:spcAft>
                <a:spcPts val="400"/>
              </a:spcAft>
              <a:defRPr sz="1500">
                <a:solidFill>
                  <a:srgbClr val="BDBDBD"/>
                </a:solidFill>
              </a:defRPr>
            </a:pPr>
            <a:r>
              <a:t>stitched together with ad-hoc scripts or monolithic Java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The Solution: Camunda 8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BDBDBD"/>
                </a:solidFill>
              </a:defRPr>
            </a:pPr>
            <a:r>
              <a:t>We model the entire pipeline as a BPMN workflow executed by Camunda 8's Zeebe engine.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828800"/>
            <a:ext cx="1965960" cy="219456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A5F5"/>
                </a:solidFill>
              </a:defRPr>
            </a:pPr>
            <a:r>
              <a:t>Visual BPMN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6888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>
                <a:solidFill>
                  <a:srgbClr val="BDBDBD"/>
                </a:solidFill>
              </a:defRPr>
            </a:pPr>
            <a:r>
              <a:t>Every step is a box on a diagram.</a:t>
            </a:r>
            <a:br/>
            <a:r>
              <a:t>Non-engineers can read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828800"/>
            <a:ext cx="1965960" cy="219456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965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726"/>
                </a:solidFill>
              </a:defRPr>
            </a:pPr>
            <a:r>
              <a:t>Async Made Easy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46888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>
                <a:solidFill>
                  <a:srgbClr val="BDBDBD"/>
                </a:solidFill>
              </a:defRPr>
            </a:pPr>
            <a:r>
              <a:t>Message correlation pauses the</a:t>
            </a:r>
            <a:br/>
            <a:r>
              <a:t>workflow until MDS calls 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828800"/>
            <a:ext cx="1965960" cy="219456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965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BB6A"/>
                </a:solidFill>
              </a:defRPr>
            </a:pPr>
            <a:r>
              <a:t>Human-in-the-Loop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46888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>
                <a:solidFill>
                  <a:srgbClr val="BDBDBD"/>
                </a:solidFill>
              </a:defRPr>
            </a:pPr>
            <a:r>
              <a:t>Camunda Tasklist provides built-in</a:t>
            </a:r>
            <a:br/>
            <a:r>
              <a:t>task assignment &amp; review UI.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828800"/>
            <a:ext cx="1965960" cy="219456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965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Full 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46888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>
                <a:solidFill>
                  <a:srgbClr val="BDBDBD"/>
                </a:solidFill>
              </a:defRPr>
            </a:pPr>
            <a:r>
              <a:t>Operate dashboard shows every</a:t>
            </a:r>
            <a:br/>
            <a:r>
              <a:t>instance, variable, and incident.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Workflow Steps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1554480" cy="10972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A5F5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Validate Filenames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63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>
                <a:solidFill>
                  <a:srgbClr val="BDBDBD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79" y="1188720"/>
            <a:ext cx="1554480" cy="10972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280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A5F5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6916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Upload to GCS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59" y="1463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>
                <a:solidFill>
                  <a:srgbClr val="BDBDBD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1188720"/>
            <a:ext cx="1554480" cy="10972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79" y="1280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A5F5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79" y="16916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Upload to AEM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463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>
                <a:solidFill>
                  <a:srgbClr val="BDBDBD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399" y="1188720"/>
            <a:ext cx="1554480" cy="10972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39" y="1280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B47BC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39" y="16916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Store Metadata (PG)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79" y="1463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>
                <a:solidFill>
                  <a:srgbClr val="BDBDBD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59" y="1188720"/>
            <a:ext cx="1554480" cy="10972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9" y="1280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A5F5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9" y="16916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Build input.json → GCS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2651760"/>
            <a:ext cx="1554480" cy="10972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726"/>
                </a:solidFill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1546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Submit MDS Job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29260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>
                <a:solidFill>
                  <a:srgbClr val="BDBDBD"/>
                </a:solidFill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79" y="2651760"/>
            <a:ext cx="1554480" cy="10972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726"/>
                </a:solidFill>
              </a:defRPr>
            </a:pPr>
            <a:r>
              <a:t>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31546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Wait for Callback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59" y="29260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>
                <a:solidFill>
                  <a:srgbClr val="BDBDBD"/>
                </a:solidFill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49039" y="2651760"/>
            <a:ext cx="1554480" cy="10972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79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B47BC"/>
                </a:solidFill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79" y="31546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Postprocess Scores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29260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>
                <a:solidFill>
                  <a:srgbClr val="BDBDBD"/>
                </a:solidFill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399" y="2651760"/>
            <a:ext cx="1554480" cy="10972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39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6BB6A"/>
                </a:solidFill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39" y="31546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Human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79" y="29260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>
                <a:solidFill>
                  <a:srgbClr val="BDBDBD"/>
                </a:solidFill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23759" y="2651760"/>
            <a:ext cx="1554480" cy="10972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199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6BB6A"/>
                </a:solidFill>
              </a:defRPr>
            </a:pPr>
            <a: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199" y="31546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Approve / Reject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Util Service — Delegated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BDBDBD"/>
                </a:solidFill>
              </a:defRPr>
            </a:pPr>
            <a:r>
              <a:t>All infrastructure tasks are delegated to a shared Util Service (deployed microservice).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77724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228600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07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7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Called By</a:t>
                      </a:r>
                    </a:p>
                  </a:txBody>
                  <a:tcPr>
                    <a:solidFill>
                      <a:srgbClr val="0071D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POST /gcs/upload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Upload file to GCS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Workers 2, 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POST /aem/upload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Upload file to AEM DAM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Worker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POST /mds/submit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Submit async MDS job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Worker 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GET  /gcs/read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Read MDS output JSON from GCS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Worker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POST /postgres/upsert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Insert / update DB rows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Workers 4, 6, 7, 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POST /postgres/query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Query DB (callback lookup)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MCP callback handler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Camunda 8 vs Traditional Java — Honest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78638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  <a:gridCol w="3017520"/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007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Java / Spring</a:t>
                      </a:r>
                    </a:p>
                  </a:txBody>
                  <a:tcPr>
                    <a:solidFill>
                      <a:srgbClr val="007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Camunda 8 + Workers</a:t>
                      </a:r>
                    </a:p>
                  </a:txBody>
                  <a:tcPr>
                    <a:solidFill>
                      <a:srgbClr val="0071D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Workflow visibility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Hidden in code; requires reading</a:t>
                      </a:r>
                    </a:p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source to understand flow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Visual BPMN diagram;</a:t>
                      </a:r>
                    </a:p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readable by non-engineers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Async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Custom polling/callback code;</a:t>
                      </a:r>
                    </a:p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error-prone thread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Built-in message correlation;</a:t>
                      </a:r>
                    </a:p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event-driven, no polling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Human-in-the-loop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Build custom UI + task queues</a:t>
                      </a:r>
                    </a:p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from scratch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Built-in Tasklist with forms,</a:t>
                      </a:r>
                    </a:p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assignment, and history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Retry / error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Manual try/catch + DLQ;</a:t>
                      </a:r>
                    </a:p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custom retry logic per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Configurable retries per task;</a:t>
                      </a:r>
                    </a:p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automatic incident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Audit trail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Custom logging / DB tables;</a:t>
                      </a:r>
                    </a:p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hard to reconstruct flow state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Operate shows full instance</a:t>
                      </a:r>
                    </a:p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history with variables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Deployment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Single deployable JAR;</a:t>
                      </a:r>
                    </a:p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familiar CI/CD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Requires Zeebe cluster +</a:t>
                      </a:r>
                    </a:p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Elasticsearch + Operate stack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Learning curve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Low for Java teams;</a:t>
                      </a:r>
                    </a:p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standard Spring patterns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Medium; BPMN + Zeebe concepts</a:t>
                      </a:r>
                    </a:p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must be learned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Vendor lock-in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None; pure open-source stack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BPMN is standard; Zeebe API</a:t>
                      </a:r>
                    </a:p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is Camunda-specific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Balanced Take — When to Use What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3840480" cy="329184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BB6A"/>
                </a:solidFill>
              </a:defRPr>
            </a:pPr>
            <a:r>
              <a:t>✅  Camunda 8 shines when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DBDBD"/>
                </a:solidFill>
              </a:defRPr>
            </a:pPr>
            <a:r>
              <a:t>• Multi-step, long-running orchestration</a:t>
            </a:r>
          </a:p>
          <a:p>
            <a:pPr>
              <a:spcAft>
                <a:spcPts val="400"/>
              </a:spcAft>
              <a:defRPr sz="1300">
                <a:solidFill>
                  <a:srgbClr val="BDBDBD"/>
                </a:solidFill>
              </a:defRPr>
            </a:pPr>
            <a:r>
              <a:t>• Async external calls (MDS, ML pipelines)</a:t>
            </a:r>
          </a:p>
          <a:p>
            <a:pPr>
              <a:spcAft>
                <a:spcPts val="400"/>
              </a:spcAft>
              <a:defRPr sz="1300">
                <a:solidFill>
                  <a:srgbClr val="BDBDBD"/>
                </a:solidFill>
              </a:defRPr>
            </a:pPr>
            <a:r>
              <a:t>• Human review / approval gates</a:t>
            </a:r>
          </a:p>
          <a:p>
            <a:pPr>
              <a:spcAft>
                <a:spcPts val="400"/>
              </a:spcAft>
              <a:defRPr sz="1300">
                <a:solidFill>
                  <a:srgbClr val="BDBDBD"/>
                </a:solidFill>
              </a:defRPr>
            </a:pPr>
            <a:r>
              <a:t>• Need for visual process monitoring</a:t>
            </a:r>
          </a:p>
          <a:p>
            <a:pPr>
              <a:spcAft>
                <a:spcPts val="400"/>
              </a:spcAft>
              <a:defRPr sz="1300">
                <a:solidFill>
                  <a:srgbClr val="BDBDBD"/>
                </a:solidFill>
              </a:defRPr>
            </a:pPr>
            <a:r>
              <a:t>• Complex branching &amp; retry policies</a:t>
            </a:r>
          </a:p>
          <a:p>
            <a:pPr>
              <a:spcAft>
                <a:spcPts val="400"/>
              </a:spcAft>
              <a:defRPr sz="1300">
                <a:solidFill>
                  <a:srgbClr val="BDBDBD"/>
                </a:solidFill>
              </a:defRPr>
            </a:pPr>
            <a:r>
              <a:t>• Cross-team process transparency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188720"/>
            <a:ext cx="3840480" cy="329184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726"/>
                </a:solidFill>
              </a:defRPr>
            </a:pPr>
            <a:r>
              <a:t>⚡  Traditional Java fits when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82880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DBDBD"/>
                </a:solidFill>
              </a:defRPr>
            </a:pPr>
            <a:r>
              <a:t>• Request-response in milliseconds</a:t>
            </a:r>
          </a:p>
          <a:p>
            <a:pPr>
              <a:spcAft>
                <a:spcPts val="400"/>
              </a:spcAft>
              <a:defRPr sz="1300">
                <a:solidFill>
                  <a:srgbClr val="BDBDBD"/>
                </a:solidFill>
              </a:defRPr>
            </a:pPr>
            <a:r>
              <a:t>• Simple CRUD with no workflow state</a:t>
            </a:r>
          </a:p>
          <a:p>
            <a:pPr>
              <a:spcAft>
                <a:spcPts val="400"/>
              </a:spcAft>
              <a:defRPr sz="1300">
                <a:solidFill>
                  <a:srgbClr val="BDBDBD"/>
                </a:solidFill>
              </a:defRPr>
            </a:pPr>
            <a:r>
              <a:t>• Team lacks BPMN / Zeebe experience</a:t>
            </a:r>
          </a:p>
          <a:p>
            <a:pPr>
              <a:spcAft>
                <a:spcPts val="400"/>
              </a:spcAft>
              <a:defRPr sz="1300">
                <a:solidFill>
                  <a:srgbClr val="BDBDBD"/>
                </a:solidFill>
              </a:defRPr>
            </a:pPr>
            <a:r>
              <a:t>• Minimal infrastructure budget</a:t>
            </a:r>
          </a:p>
          <a:p>
            <a:pPr>
              <a:spcAft>
                <a:spcPts val="400"/>
              </a:spcAft>
              <a:defRPr sz="1300">
                <a:solidFill>
                  <a:srgbClr val="BDBDBD"/>
                </a:solidFill>
              </a:defRPr>
            </a:pPr>
            <a:r>
              <a:t>• No async or human-in-the-loop needs</a:t>
            </a:r>
          </a:p>
          <a:p>
            <a:pPr>
              <a:spcAft>
                <a:spcPts val="400"/>
              </a:spcAft>
              <a:defRPr sz="1300">
                <a:solidFill>
                  <a:srgbClr val="BDBDBD"/>
                </a:solidFill>
              </a:defRPr>
            </a:pPr>
            <a:r>
              <a:t>• Single-service, stateless logic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Future Scope — Camunda 8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4206240" cy="11430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A5F5"/>
                </a:solidFill>
              </a:defRPr>
            </a:pPr>
            <a:r>
              <a:t>Multi-Instance Sub-Process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79" y="1536192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Process each asset in parallel inside the workflow.</a:t>
            </a:r>
            <a:br/>
            <a:r>
              <a:t>Automatic fan-out / fan-in with completion conditions.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59" y="1097280"/>
            <a:ext cx="4206240" cy="11430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1887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726"/>
                </a:solidFill>
              </a:defRPr>
            </a:pPr>
            <a:r>
              <a:t>Timer Boundary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536192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Escalate if MDS callback is not received in N hours.</a:t>
            </a:r>
            <a:br/>
            <a:r>
              <a:t>Auto-retry or alert the team on SLA breach.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423160"/>
            <a:ext cx="4206240" cy="11430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5146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BB6A"/>
                </a:solidFill>
              </a:defRPr>
            </a:pPr>
            <a:r>
              <a:t>Decision Tables (DMN)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862072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Externalize violation weights &amp; thresholds as DMN</a:t>
            </a:r>
            <a:br/>
            <a:r>
              <a:t>tables. Business users update rules without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59" y="2423160"/>
            <a:ext cx="4206240" cy="11430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5146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Connectors (OOTB)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862072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Pre-built REST, Kafka, SendGrid connectors.</a:t>
            </a:r>
            <a:br/>
            <a:r>
              <a:t>Reduce worker code for common integrations.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749039"/>
            <a:ext cx="4206240" cy="11430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840479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A5F5"/>
                </a:solidFill>
              </a:defRPr>
            </a:pPr>
            <a:r>
              <a:t>Operate &amp; Optimize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187952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Process heatmaps, bottleneck analysis, cycle-time</a:t>
            </a:r>
            <a:br/>
            <a:r>
              <a:t>reporting. Data-driven process improvement.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3749039"/>
            <a:ext cx="4206240" cy="11430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840479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726"/>
                </a:solidFill>
              </a:defRPr>
            </a:pPr>
            <a:r>
              <a:t>SaaS / Managed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187952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Camunda 8 SaaS removes the need to self-host</a:t>
            </a:r>
            <a:br/>
            <a:r>
              <a:t>Zeebe + Elasticsearch. Lower ops burden.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BDBDBD"/>
                </a:solidFill>
              </a:defRPr>
            </a:pPr>
            <a:r>
              <a:t>The MDS evaluation flow is a textbook fit for workflow orchestration due to its multi-step nature, async MDS integration, and human review requirement.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1.  Adopt Camunda 8 for the MDS evaluation pipeline as a production pilot.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2.  Evaluate total cost of ownership (Zeebe infra vs SaaS pricing).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3.  Invest in BPMN training for the team (1-2 day workshop).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4.  Start small  — one workflow in production before expanding.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5.  Run Camunda alongside existing Java services, not replacing them.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6.  Revisit after 3 months to measure velocity and operational gains.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42A5F5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>
                <a:solidFill>
                  <a:srgbClr val="BDBDBD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